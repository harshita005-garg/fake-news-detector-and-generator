
<file path=[Content_Types].xml><?xml version="1.0" encoding="utf-8"?>
<Types xmlns="http://schemas.openxmlformats.org/package/2006/content-types">
  <Default Extension="1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</p:sldMasterIdLst>
  <p:sldIdLst>
    <p:sldId id="272" r:id="rId3"/>
    <p:sldId id="256" r:id="rId4"/>
    <p:sldId id="257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6" r:id="rId17"/>
    <p:sldId id="284" r:id="rId18"/>
    <p:sldId id="285" r:id="rId1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670048"/>
            <a:ext cx="3264300" cy="23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4962144"/>
            <a:ext cx="3264300" cy="11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601733"/>
            <a:ext cx="16725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610467"/>
            <a:ext cx="8295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8833"/>
            <a:ext cx="7965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1183800"/>
            <a:ext cx="581800" cy="776467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1" y="421701"/>
            <a:ext cx="292025" cy="390100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567744"/>
            <a:ext cx="288614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2"/>
          <p:cNvSpPr/>
          <p:nvPr/>
        </p:nvSpPr>
        <p:spPr>
          <a:xfrm>
            <a:off x="5688326" y="564367"/>
            <a:ext cx="293111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7" name="Google Shape;27;p2"/>
          <p:cNvSpPr/>
          <p:nvPr/>
        </p:nvSpPr>
        <p:spPr>
          <a:xfrm>
            <a:off x="5727069" y="616413"/>
            <a:ext cx="215626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" name="Google Shape;28;p2"/>
          <p:cNvSpPr/>
          <p:nvPr/>
        </p:nvSpPr>
        <p:spPr>
          <a:xfrm>
            <a:off x="5724828" y="613036"/>
            <a:ext cx="220123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" name="Google Shape;29;p2"/>
          <p:cNvSpPr/>
          <p:nvPr/>
        </p:nvSpPr>
        <p:spPr>
          <a:xfrm>
            <a:off x="5766658" y="669180"/>
            <a:ext cx="136177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0" name="Google Shape;30;p2"/>
          <p:cNvSpPr/>
          <p:nvPr/>
        </p:nvSpPr>
        <p:spPr>
          <a:xfrm>
            <a:off x="5764416" y="666190"/>
            <a:ext cx="140951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1" y="385700"/>
            <a:ext cx="175013" cy="36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1" y="2109067"/>
            <a:ext cx="175013" cy="36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18916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951004"/>
            <a:ext cx="4878702" cy="4956005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974848"/>
            <a:ext cx="3200400" cy="107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548384"/>
            <a:ext cx="2967600" cy="14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3998976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07785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4072128"/>
            <a:ext cx="48096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5" y="5910667"/>
            <a:ext cx="175013" cy="36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3304032"/>
            <a:ext cx="48096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254177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56146" y="451100"/>
            <a:ext cx="5431800" cy="8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3377184"/>
            <a:ext cx="20847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3377184"/>
            <a:ext cx="20847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962656"/>
            <a:ext cx="20847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938272"/>
            <a:ext cx="2084700" cy="4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2170176"/>
            <a:ext cx="722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2170176"/>
            <a:ext cx="722400" cy="6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71384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451104"/>
            <a:ext cx="54969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22495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2645664"/>
            <a:ext cx="32919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4425696"/>
            <a:ext cx="3291900" cy="53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697500"/>
            <a:ext cx="16725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706233"/>
            <a:ext cx="8295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86933"/>
            <a:ext cx="7965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1279567"/>
            <a:ext cx="581800" cy="776467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1" y="517467"/>
            <a:ext cx="292025" cy="390100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663510"/>
            <a:ext cx="288614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2" name="Google Shape;322;p7"/>
          <p:cNvSpPr/>
          <p:nvPr/>
        </p:nvSpPr>
        <p:spPr>
          <a:xfrm flipH="1">
            <a:off x="3164040" y="660133"/>
            <a:ext cx="293111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712179"/>
            <a:ext cx="215626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6" y="708803"/>
            <a:ext cx="220123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2" y="764946"/>
            <a:ext cx="136177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6" name="Google Shape;326;p7"/>
          <p:cNvSpPr/>
          <p:nvPr/>
        </p:nvSpPr>
        <p:spPr>
          <a:xfrm flipH="1">
            <a:off x="3240110" y="761956"/>
            <a:ext cx="140951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3" y="481467"/>
            <a:ext cx="175013" cy="36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3" y="323600"/>
            <a:ext cx="175013" cy="36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3" y="2204833"/>
            <a:ext cx="175013" cy="36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5616533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56272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5254567"/>
            <a:ext cx="581800" cy="776467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6" y="6115667"/>
            <a:ext cx="292025" cy="390100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6194067"/>
            <a:ext cx="175000" cy="233333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3" y="6469767"/>
            <a:ext cx="175013" cy="36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3" y="5198133"/>
            <a:ext cx="175013" cy="36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130742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797889"/>
            <a:ext cx="6453730" cy="4841515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2161004"/>
            <a:ext cx="39045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8833"/>
            <a:ext cx="9152342" cy="6802733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440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718816"/>
            <a:ext cx="3566100" cy="18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1095800"/>
            <a:ext cx="3096000" cy="4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697500"/>
            <a:ext cx="1672500" cy="16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706233"/>
            <a:ext cx="8295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86933"/>
            <a:ext cx="7965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1279567"/>
            <a:ext cx="581800" cy="776467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1" y="517467"/>
            <a:ext cx="292025" cy="390100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663510"/>
            <a:ext cx="288614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7" name="Google Shape;457;p9"/>
          <p:cNvSpPr/>
          <p:nvPr/>
        </p:nvSpPr>
        <p:spPr>
          <a:xfrm flipH="1">
            <a:off x="3164040" y="660133"/>
            <a:ext cx="293111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712179"/>
            <a:ext cx="215626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6" y="708803"/>
            <a:ext cx="220123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2" y="764946"/>
            <a:ext cx="136177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61" name="Google Shape;461;p9"/>
          <p:cNvSpPr/>
          <p:nvPr/>
        </p:nvSpPr>
        <p:spPr>
          <a:xfrm flipH="1">
            <a:off x="3240110" y="761956"/>
            <a:ext cx="140951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3" y="481467"/>
            <a:ext cx="175013" cy="36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3" y="323600"/>
            <a:ext cx="175013" cy="36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3" y="2204833"/>
            <a:ext cx="175013" cy="36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5616533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56272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5254567"/>
            <a:ext cx="581800" cy="776467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6" y="6115667"/>
            <a:ext cx="292025" cy="390100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6194067"/>
            <a:ext cx="175000" cy="233333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3" y="6469767"/>
            <a:ext cx="175013" cy="36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3" y="5198133"/>
            <a:ext cx="175013" cy="36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86571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2596896"/>
            <a:ext cx="2788800" cy="1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463296"/>
            <a:ext cx="4947000" cy="7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5787467"/>
            <a:ext cx="12129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5776800"/>
            <a:ext cx="5826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6" y="5578367"/>
            <a:ext cx="292025" cy="390100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5" y="6155433"/>
            <a:ext cx="293111" cy="391184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393467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88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702567"/>
            <a:ext cx="581800" cy="776467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6" y="227834"/>
            <a:ext cx="292025" cy="390100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306200"/>
            <a:ext cx="175000" cy="233333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1" y="1499467"/>
            <a:ext cx="175013" cy="36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92497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499792"/>
            <a:ext cx="5234354" cy="4092192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3755136"/>
            <a:ext cx="2679300" cy="8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080858" y="4483783"/>
            <a:ext cx="15108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6957708" y="2829083"/>
            <a:ext cx="17896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010433" y="1047183"/>
            <a:ext cx="1776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22783" y="-20950"/>
            <a:ext cx="3652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310367" y="1810292"/>
            <a:ext cx="775733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21050" y="3721030"/>
            <a:ext cx="389367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7983292" y="266733"/>
            <a:ext cx="233333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02832" y="5222133"/>
            <a:ext cx="390815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29884" y="435359"/>
            <a:ext cx="233351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462100" y="3485433"/>
            <a:ext cx="22300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708850" y="4862567"/>
            <a:ext cx="11060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973025" y="5733000"/>
            <a:ext cx="10620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524509" y="5513092"/>
            <a:ext cx="775733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34155" y="4516497"/>
            <a:ext cx="389367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65959" y="6416267"/>
            <a:ext cx="233333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29015" y="2299714"/>
            <a:ext cx="384819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26025" y="2297179"/>
            <a:ext cx="390815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377673" y="2336209"/>
            <a:ext cx="287501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374676" y="2333685"/>
            <a:ext cx="293497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30644" y="2375606"/>
            <a:ext cx="181569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27455" y="2373551"/>
            <a:ext cx="187935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671951" y="2025008"/>
            <a:ext cx="233351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790351" y="6087275"/>
            <a:ext cx="233351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379426" y="5525541"/>
            <a:ext cx="233351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743200"/>
            <a:ext cx="3904500" cy="10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52318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720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475488"/>
            <a:ext cx="2615100" cy="7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573024"/>
            <a:ext cx="26151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950976"/>
            <a:ext cx="2615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2011680"/>
            <a:ext cx="26151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2389632"/>
            <a:ext cx="2615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3450336"/>
            <a:ext cx="26151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3828288"/>
            <a:ext cx="2615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4888992"/>
            <a:ext cx="2615100" cy="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5266944"/>
            <a:ext cx="26151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963168"/>
            <a:ext cx="4572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2401824"/>
            <a:ext cx="4572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3840480"/>
            <a:ext cx="4572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5279136"/>
            <a:ext cx="4572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0300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Three columns of text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451104"/>
            <a:ext cx="5577900" cy="7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3218688"/>
            <a:ext cx="17649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3218688"/>
            <a:ext cx="17649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3218688"/>
            <a:ext cx="1764900" cy="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3767328"/>
            <a:ext cx="17649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3767328"/>
            <a:ext cx="17649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3767328"/>
            <a:ext cx="17649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544"/>
            <a:ext cx="8550326" cy="53088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85867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Four columns of text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589800"/>
            <a:ext cx="6006300" cy="7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2060448"/>
            <a:ext cx="19452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2584704"/>
            <a:ext cx="1945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2060448"/>
            <a:ext cx="19476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2584704"/>
            <a:ext cx="19476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4267200"/>
            <a:ext cx="19452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4791456"/>
            <a:ext cx="1945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4267200"/>
            <a:ext cx="19935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4791456"/>
            <a:ext cx="19935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668367"/>
            <a:ext cx="7377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376251"/>
            <a:ext cx="12129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365584"/>
            <a:ext cx="5826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1" y="167151"/>
            <a:ext cx="292025" cy="390100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40" y="744217"/>
            <a:ext cx="293111" cy="391184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1" y="483467"/>
            <a:ext cx="175013" cy="36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9167"/>
            <a:ext cx="10026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69833"/>
            <a:ext cx="581800" cy="776467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1" y="1489985"/>
            <a:ext cx="292025" cy="390100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1" y="2109067"/>
            <a:ext cx="175013" cy="36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190353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Three columns of text 2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5787467"/>
            <a:ext cx="6702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457033"/>
            <a:ext cx="47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5776733"/>
            <a:ext cx="5907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6" y="5578367"/>
            <a:ext cx="292025" cy="390100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90" y="6139567"/>
            <a:ext cx="293111" cy="391184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393467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88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702567"/>
            <a:ext cx="581800" cy="776467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6" y="227834"/>
            <a:ext cx="292025" cy="390100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306200"/>
            <a:ext cx="175000" cy="233333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1" y="1499467"/>
            <a:ext cx="175013" cy="36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2426208"/>
            <a:ext cx="16368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670304"/>
            <a:ext cx="16368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2426208"/>
            <a:ext cx="1636800" cy="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852928"/>
            <a:ext cx="1636800" cy="11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2109216"/>
            <a:ext cx="16368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852928"/>
            <a:ext cx="1636800" cy="11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4717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Six columns of text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451104"/>
            <a:ext cx="29628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2117781"/>
            <a:ext cx="176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2570892"/>
            <a:ext cx="17649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2117781"/>
            <a:ext cx="17649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2570892"/>
            <a:ext cx="17649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2117781"/>
            <a:ext cx="176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2570892"/>
            <a:ext cx="17649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4287944"/>
            <a:ext cx="176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4741356"/>
            <a:ext cx="17649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4287948"/>
            <a:ext cx="1949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4741356"/>
            <a:ext cx="19491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4287944"/>
            <a:ext cx="1764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4741356"/>
            <a:ext cx="17649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6017433"/>
            <a:ext cx="1133100" cy="40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5989767"/>
            <a:ext cx="1342200" cy="420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5877333"/>
            <a:ext cx="1332000" cy="52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5324733"/>
            <a:ext cx="273900" cy="542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6017433"/>
            <a:ext cx="581800" cy="776467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9" y="5787285"/>
            <a:ext cx="292025" cy="390100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5753367"/>
            <a:ext cx="175000" cy="233333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8" y="6210067"/>
            <a:ext cx="293111" cy="391184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1" y="5523233"/>
            <a:ext cx="175013" cy="36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302133"/>
            <a:ext cx="1504500" cy="299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610467"/>
            <a:ext cx="829500" cy="991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8833"/>
            <a:ext cx="796500" cy="158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387000"/>
            <a:ext cx="581800" cy="776467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1" y="421701"/>
            <a:ext cx="292025" cy="390100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428367"/>
            <a:ext cx="175000" cy="233333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91610"/>
            <a:ext cx="288614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7" name="Google Shape;827;p17"/>
          <p:cNvSpPr/>
          <p:nvPr/>
        </p:nvSpPr>
        <p:spPr>
          <a:xfrm>
            <a:off x="5827051" y="88233"/>
            <a:ext cx="293111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8" name="Google Shape;828;p17"/>
          <p:cNvSpPr/>
          <p:nvPr/>
        </p:nvSpPr>
        <p:spPr>
          <a:xfrm>
            <a:off x="5865794" y="140279"/>
            <a:ext cx="215626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9" name="Google Shape;829;p17"/>
          <p:cNvSpPr/>
          <p:nvPr/>
        </p:nvSpPr>
        <p:spPr>
          <a:xfrm>
            <a:off x="5863553" y="136903"/>
            <a:ext cx="220123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30" name="Google Shape;830;p17"/>
          <p:cNvSpPr/>
          <p:nvPr/>
        </p:nvSpPr>
        <p:spPr>
          <a:xfrm>
            <a:off x="5905383" y="193046"/>
            <a:ext cx="136177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31" name="Google Shape;831;p17"/>
          <p:cNvSpPr/>
          <p:nvPr/>
        </p:nvSpPr>
        <p:spPr>
          <a:xfrm>
            <a:off x="5903141" y="190056"/>
            <a:ext cx="140951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1" y="2210667"/>
            <a:ext cx="175013" cy="36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6585365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451104"/>
            <a:ext cx="6611100" cy="73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988468"/>
            <a:ext cx="3557100" cy="3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668367"/>
            <a:ext cx="737700" cy="98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376251"/>
            <a:ext cx="1212900" cy="56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365584"/>
            <a:ext cx="582600" cy="87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1" y="167151"/>
            <a:ext cx="292025" cy="390100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40" y="744217"/>
            <a:ext cx="293111" cy="391184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1" y="483467"/>
            <a:ext cx="175013" cy="36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9167"/>
            <a:ext cx="1002600" cy="65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69833"/>
            <a:ext cx="581800" cy="776467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1" y="1489985"/>
            <a:ext cx="292025" cy="390100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1" y="2109067"/>
            <a:ext cx="175013" cy="36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6017433"/>
            <a:ext cx="1133100" cy="40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5989767"/>
            <a:ext cx="1342200" cy="42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5877333"/>
            <a:ext cx="1332000" cy="52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5324733"/>
            <a:ext cx="273900" cy="54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6017433"/>
            <a:ext cx="581800" cy="776467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5" y="5787285"/>
            <a:ext cx="292025" cy="390100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5753367"/>
            <a:ext cx="175000" cy="233333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80" y="6210067"/>
            <a:ext cx="293111" cy="391184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5" y="5523233"/>
            <a:ext cx="175013" cy="36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521284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512064"/>
            <a:ext cx="4937700" cy="14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2279904"/>
            <a:ext cx="3099900" cy="19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4885600"/>
            <a:ext cx="4161600" cy="10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 sz="1800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080858" y="4483783"/>
            <a:ext cx="15108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6957708" y="2829083"/>
            <a:ext cx="17896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010433" y="1047183"/>
            <a:ext cx="1776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22783" y="-20950"/>
            <a:ext cx="3652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310367" y="1810292"/>
            <a:ext cx="775733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21050" y="3721030"/>
            <a:ext cx="389367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7983292" y="266733"/>
            <a:ext cx="233333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02832" y="5222133"/>
            <a:ext cx="390815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29884" y="435359"/>
            <a:ext cx="233351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462100" y="3485433"/>
            <a:ext cx="22300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708850" y="4862567"/>
            <a:ext cx="11060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973025" y="5733000"/>
            <a:ext cx="10620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524509" y="5513092"/>
            <a:ext cx="775733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34155" y="4516497"/>
            <a:ext cx="389367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65959" y="6416267"/>
            <a:ext cx="233333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29015" y="2299714"/>
            <a:ext cx="384819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26025" y="2297179"/>
            <a:ext cx="390815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377673" y="2336209"/>
            <a:ext cx="287501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374676" y="2333685"/>
            <a:ext cx="293497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30644" y="2375606"/>
            <a:ext cx="181569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27455" y="2373551"/>
            <a:ext cx="187935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671951" y="2025008"/>
            <a:ext cx="233351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790351" y="6087275"/>
            <a:ext cx="233351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379426" y="5525541"/>
            <a:ext cx="233351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2680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Highlighted numbers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938784"/>
            <a:ext cx="34839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633728"/>
            <a:ext cx="34839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913888"/>
            <a:ext cx="34839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3596640"/>
            <a:ext cx="34839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4864608"/>
            <a:ext cx="3483900" cy="75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5559552"/>
            <a:ext cx="34839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080858" y="4483783"/>
            <a:ext cx="15108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6957708" y="2829083"/>
            <a:ext cx="17896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010433" y="1047183"/>
            <a:ext cx="1776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22783" y="-20950"/>
            <a:ext cx="3652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310367" y="1810292"/>
            <a:ext cx="775733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21050" y="3721030"/>
            <a:ext cx="389367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7983292" y="266733"/>
            <a:ext cx="233333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02832" y="5222133"/>
            <a:ext cx="390815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29884" y="435359"/>
            <a:ext cx="233351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462100" y="3485433"/>
            <a:ext cx="22300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708850" y="4862567"/>
            <a:ext cx="11060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973025" y="5733000"/>
            <a:ext cx="10620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524509" y="5513092"/>
            <a:ext cx="775733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34155" y="4516497"/>
            <a:ext cx="389367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65959" y="6416267"/>
            <a:ext cx="233333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29015" y="2299714"/>
            <a:ext cx="384819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26025" y="2297179"/>
            <a:ext cx="390815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377673" y="2336209"/>
            <a:ext cx="287501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374676" y="2333685"/>
            <a:ext cx="293497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30644" y="2375606"/>
            <a:ext cx="181569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27455" y="2373551"/>
            <a:ext cx="187935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671951" y="2025008"/>
            <a:ext cx="233351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790351" y="6087275"/>
            <a:ext cx="233351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379426" y="5525541"/>
            <a:ext cx="233351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605907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Three columns of text 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451104"/>
            <a:ext cx="3218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544"/>
            <a:ext cx="8550326" cy="53088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380372"/>
            <a:ext cx="218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782608"/>
            <a:ext cx="2184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3079301"/>
            <a:ext cx="21840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3479972"/>
            <a:ext cx="2184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4783527"/>
            <a:ext cx="218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5185756"/>
            <a:ext cx="2184000" cy="8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27512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Three columns of text 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5787467"/>
            <a:ext cx="670200" cy="56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457033"/>
            <a:ext cx="47277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5776733"/>
            <a:ext cx="590700" cy="88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6" y="5578367"/>
            <a:ext cx="292025" cy="390100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90" y="6139567"/>
            <a:ext cx="293111" cy="391184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393467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88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702567"/>
            <a:ext cx="581800" cy="776467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6" y="227834"/>
            <a:ext cx="292025" cy="390100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306200"/>
            <a:ext cx="175000" cy="233333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1" y="1499467"/>
            <a:ext cx="175013" cy="36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3657600"/>
            <a:ext cx="18654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2182368"/>
            <a:ext cx="18654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999232"/>
            <a:ext cx="1865400" cy="5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4108704"/>
            <a:ext cx="18654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2633472"/>
            <a:ext cx="18654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3462528"/>
            <a:ext cx="18654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5895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451104"/>
            <a:ext cx="40875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536200"/>
            <a:ext cx="7705500" cy="47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4479167"/>
            <a:ext cx="151800" cy="127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5776733"/>
            <a:ext cx="4467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9" y="5557067"/>
            <a:ext cx="292025" cy="390100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90" y="4299067"/>
            <a:ext cx="293111" cy="391184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393467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88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702567"/>
            <a:ext cx="581800" cy="776467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6" y="227834"/>
            <a:ext cx="292025" cy="390100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306200"/>
            <a:ext cx="175000" cy="233333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1" y="1499467"/>
            <a:ext cx="175013" cy="36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9424980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702567"/>
            <a:ext cx="7696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5787467"/>
            <a:ext cx="670200" cy="56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5776733"/>
            <a:ext cx="590700" cy="885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6" y="5578367"/>
            <a:ext cx="292025" cy="390100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90" y="6139567"/>
            <a:ext cx="293111" cy="391184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393467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88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702567"/>
            <a:ext cx="581800" cy="776467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6" y="227834"/>
            <a:ext cx="292025" cy="390100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306200"/>
            <a:ext cx="175000" cy="233333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1" y="227833"/>
            <a:ext cx="175013" cy="36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1" y="1499467"/>
            <a:ext cx="175013" cy="36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7803948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1048500" y="2849133"/>
            <a:ext cx="3457200" cy="17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697500"/>
            <a:ext cx="1672500" cy="16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706233"/>
            <a:ext cx="829500" cy="99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86933"/>
            <a:ext cx="796500" cy="158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1279567"/>
            <a:ext cx="581800" cy="776467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1" y="517467"/>
            <a:ext cx="292025" cy="390100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663510"/>
            <a:ext cx="288614" cy="384449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40" y="660133"/>
            <a:ext cx="293111" cy="391184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712179"/>
            <a:ext cx="215626" cy="287116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6" y="708803"/>
            <a:ext cx="220123" cy="293867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2" y="764946"/>
            <a:ext cx="136177" cy="181569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10" y="761956"/>
            <a:ext cx="140951" cy="187565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3" y="481467"/>
            <a:ext cx="175013" cy="36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3" y="323600"/>
            <a:ext cx="175013" cy="36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3" y="2204833"/>
            <a:ext cx="175013" cy="36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5616533"/>
            <a:ext cx="1157100" cy="72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5627233"/>
            <a:ext cx="791400" cy="111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5254567"/>
            <a:ext cx="581800" cy="776467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6" y="6115667"/>
            <a:ext cx="292025" cy="390100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6194067"/>
            <a:ext cx="175000" cy="233333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3" y="6469767"/>
            <a:ext cx="175013" cy="36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3" y="5198133"/>
            <a:ext cx="175013" cy="36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6316409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702567"/>
            <a:ext cx="76965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668367"/>
            <a:ext cx="737700" cy="98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376251"/>
            <a:ext cx="1212900" cy="56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365584"/>
            <a:ext cx="582600" cy="8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1" y="167151"/>
            <a:ext cx="292025" cy="390100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40" y="744217"/>
            <a:ext cx="293111" cy="391184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1" y="483467"/>
            <a:ext cx="175013" cy="36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9167"/>
            <a:ext cx="1002600" cy="65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69833"/>
            <a:ext cx="581800" cy="776467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1" y="1489985"/>
            <a:ext cx="292025" cy="390100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1" y="2109067"/>
            <a:ext cx="175013" cy="36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7765298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080858" y="4483783"/>
            <a:ext cx="15108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6957708" y="2829083"/>
            <a:ext cx="17896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010433" y="1047183"/>
            <a:ext cx="1776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22783" y="-20950"/>
            <a:ext cx="3652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310367" y="1810292"/>
            <a:ext cx="775733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21050" y="3721030"/>
            <a:ext cx="389367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7983292" y="266733"/>
            <a:ext cx="233333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02832" y="5222133"/>
            <a:ext cx="390815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29884" y="435359"/>
            <a:ext cx="233351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462100" y="3485433"/>
            <a:ext cx="22300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708850" y="4862567"/>
            <a:ext cx="11060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973025" y="5733000"/>
            <a:ext cx="10620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524509" y="5513092"/>
            <a:ext cx="775733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34155" y="4516497"/>
            <a:ext cx="389367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65959" y="6416267"/>
            <a:ext cx="233333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29015" y="2299714"/>
            <a:ext cx="384819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26025" y="2297179"/>
            <a:ext cx="390815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377673" y="2336209"/>
            <a:ext cx="287501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374676" y="2333685"/>
            <a:ext cx="293497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30644" y="2375606"/>
            <a:ext cx="181569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27455" y="2373551"/>
            <a:ext cx="187935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671951" y="2025008"/>
            <a:ext cx="233351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790351" y="6087275"/>
            <a:ext cx="233351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379426" y="5525541"/>
            <a:ext cx="233351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1102130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544"/>
            <a:ext cx="8550326" cy="53088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0062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66745879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ackground 4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8833"/>
            <a:ext cx="9152342" cy="6802733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55291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797889"/>
            <a:ext cx="6453730" cy="4841515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358037"/>
            <a:ext cx="3904500" cy="25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8833"/>
            <a:ext cx="9152342" cy="6802733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3462528"/>
            <a:ext cx="1865400" cy="8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-GB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95540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32"/>
          <p:cNvSpPr txBox="1">
            <a:spLocks noGrp="1"/>
          </p:cNvSpPr>
          <p:nvPr>
            <p:ph type="body" idx="1"/>
          </p:nvPr>
        </p:nvSpPr>
        <p:spPr>
          <a:xfrm>
            <a:off x="1881350" y="1662467"/>
            <a:ext cx="21333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21" name="Google Shape;1621;p32"/>
          <p:cNvSpPr txBox="1">
            <a:spLocks noGrp="1"/>
          </p:cNvSpPr>
          <p:nvPr>
            <p:ph type="body" idx="2"/>
          </p:nvPr>
        </p:nvSpPr>
        <p:spPr>
          <a:xfrm>
            <a:off x="4220325" y="1662467"/>
            <a:ext cx="3099900" cy="46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22" name="Google Shape;1622;p32"/>
          <p:cNvSpPr txBox="1">
            <a:spLocks noGrp="1"/>
          </p:cNvSpPr>
          <p:nvPr>
            <p:ph type="title"/>
          </p:nvPr>
        </p:nvSpPr>
        <p:spPr>
          <a:xfrm>
            <a:off x="2532888" y="451104"/>
            <a:ext cx="4087500" cy="7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grpSp>
        <p:nvGrpSpPr>
          <p:cNvPr id="1623" name="Google Shape;1623;p32"/>
          <p:cNvGrpSpPr/>
          <p:nvPr/>
        </p:nvGrpSpPr>
        <p:grpSpPr>
          <a:xfrm>
            <a:off x="432850" y="0"/>
            <a:ext cx="8278300" cy="6887600"/>
            <a:chOff x="432850" y="0"/>
            <a:chExt cx="8278300" cy="5165700"/>
          </a:xfrm>
        </p:grpSpPr>
        <p:cxnSp>
          <p:nvCxnSpPr>
            <p:cNvPr id="1624" name="Google Shape;1624;p32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25" name="Google Shape;1625;p32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626" name="Google Shape;1626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638" name="Google Shape;1638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642" name="Google Shape;1642;p32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43" name="Google Shape;1643;p32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644" name="Google Shape;1644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5" name="Google Shape;1645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8" name="Google Shape;1648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9" name="Google Shape;1649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50" name="Google Shape;1650;p32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651" name="Google Shape;1651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2" name="Google Shape;1652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55" name="Google Shape;1655;p32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656" name="Google Shape;1656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60" name="Google Shape;1660;p32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661" name="Google Shape;1661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63" name="Google Shape;1663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64" name="Google Shape;1664;p32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665" name="Google Shape;166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68" name="Google Shape;1668;p32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69" name="Google Shape;166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70" name="Google Shape;167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71" name="Google Shape;167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72" name="Google Shape;1672;p32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73" name="Google Shape;1673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74" name="Google Shape;1674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75" name="Google Shape;1675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cxnSp>
          <p:nvCxnSpPr>
            <p:cNvPr id="1676" name="Google Shape;1676;p32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7" name="Google Shape;1677;p32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78" name="Google Shape;1678;p32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79" name="Google Shape;1679;p32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0" name="Google Shape;1680;p32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81" name="Google Shape;1681;p32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666311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94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702567"/>
            <a:ext cx="76965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63496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684" name="Google Shape;1684;p33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63778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517813/free-illustration-image-coming-soon-opening-soon-announcement" TargetMode="External"/><Relationship Id="rId2" Type="http://schemas.openxmlformats.org/officeDocument/2006/relationships/image" Target="../media/image10.1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596EE-A29A-9D05-241A-44548CB9A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6151" y="1063251"/>
            <a:ext cx="6771697" cy="1038254"/>
          </a:xfrm>
        </p:spPr>
        <p:txBody>
          <a:bodyPr/>
          <a:lstStyle/>
          <a:p>
            <a:pPr algn="ctr"/>
            <a:r>
              <a:rPr lang="en-GB" sz="3600" dirty="0"/>
              <a:t>Project Presentation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83C8E-C9C8-ACEB-2BE9-EDB315DD08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Harshita</a:t>
            </a:r>
          </a:p>
          <a:p>
            <a:r>
              <a:rPr lang="en-GB" dirty="0"/>
              <a:t>72212988</a:t>
            </a:r>
          </a:p>
          <a:p>
            <a:r>
              <a:rPr lang="en-GB" dirty="0" err="1"/>
              <a:t>B.Tech</a:t>
            </a:r>
            <a:r>
              <a:rPr lang="en-GB" dirty="0"/>
              <a:t> CSE IBM</a:t>
            </a:r>
            <a:endParaRPr lang="en-IN" dirty="0"/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ECA5B577-22CD-4ECD-FA55-EA89D9558702}"/>
              </a:ext>
            </a:extLst>
          </p:cNvPr>
          <p:cNvSpPr txBox="1"/>
          <p:nvPr/>
        </p:nvSpPr>
        <p:spPr>
          <a:xfrm>
            <a:off x="481780" y="2243053"/>
            <a:ext cx="83082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dirty="0">
                <a:latin typeface="Fjalla One" panose="02000506040000020004" pitchFamily="2" charset="0"/>
              </a:rPr>
              <a:t>Fake News Detection and Generation</a:t>
            </a:r>
            <a:endParaRPr lang="en-IN" sz="8000" dirty="0">
              <a:latin typeface="Fjalla One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670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969302" y="3420161"/>
            <a:ext cx="5768685" cy="878000"/>
          </a:xfrm>
        </p:spPr>
        <p:txBody>
          <a:bodyPr/>
          <a:lstStyle/>
          <a:p>
            <a:pPr algn="l"/>
            <a:r>
              <a:rPr lang="en-GB" sz="2400" dirty="0"/>
              <a:t>- </a:t>
            </a:r>
            <a:r>
              <a:rPr sz="2400" dirty="0"/>
              <a:t>GPT-2 Generator + </a:t>
            </a:r>
            <a:r>
              <a:rPr sz="2400" dirty="0" err="1"/>
              <a:t>DistilBERT</a:t>
            </a:r>
            <a:r>
              <a:rPr sz="2400" dirty="0"/>
              <a:t> Classifier</a:t>
            </a:r>
          </a:p>
          <a:p>
            <a:pPr algn="l"/>
            <a:r>
              <a:rPr lang="en-GB" sz="2400" dirty="0"/>
              <a:t>- </a:t>
            </a:r>
            <a:r>
              <a:rPr sz="2400" dirty="0" err="1"/>
              <a:t>FastAPI</a:t>
            </a:r>
            <a:r>
              <a:rPr sz="2400" dirty="0"/>
              <a:t> Backend + </a:t>
            </a:r>
            <a:r>
              <a:rPr sz="2400" dirty="0" err="1"/>
              <a:t>Streamlit</a:t>
            </a:r>
            <a:r>
              <a:rPr sz="2400" dirty="0"/>
              <a:t> Frontend</a:t>
            </a:r>
          </a:p>
          <a:p>
            <a:pPr algn="l"/>
            <a:r>
              <a:rPr lang="en-GB" sz="2400" dirty="0"/>
              <a:t>- </a:t>
            </a:r>
            <a:r>
              <a:rPr sz="2400" dirty="0"/>
              <a:t>Deployment on Render &amp; </a:t>
            </a:r>
            <a:r>
              <a:rPr sz="2400" dirty="0" err="1"/>
              <a:t>Streamlit</a:t>
            </a:r>
            <a:r>
              <a:rPr sz="2400" dirty="0"/>
              <a:t> Cloud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871" y="1406013"/>
            <a:ext cx="6725264" cy="1048400"/>
          </a:xfrm>
        </p:spPr>
        <p:txBody>
          <a:bodyPr/>
          <a:lstStyle/>
          <a:p>
            <a:r>
              <a:rPr sz="5400" dirty="0"/>
              <a:t>Fake News Generator &amp; Detector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E0D991-0B5A-9938-221F-5CB3E229A1A2}"/>
              </a:ext>
            </a:extLst>
          </p:cNvPr>
          <p:cNvSpPr txBox="1">
            <a:spLocks/>
          </p:cNvSpPr>
          <p:nvPr/>
        </p:nvSpPr>
        <p:spPr>
          <a:xfrm>
            <a:off x="940059" y="594412"/>
            <a:ext cx="7696500" cy="76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000" dirty="0">
                <a:solidFill>
                  <a:schemeClr val="bg2"/>
                </a:solidFill>
                <a:latin typeface="Fjalla One" panose="02000506040000020004" pitchFamily="2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6E45E-3911-04D2-C201-DFB79DE3954A}"/>
              </a:ext>
            </a:extLst>
          </p:cNvPr>
          <p:cNvSpPr txBox="1"/>
          <p:nvPr/>
        </p:nvSpPr>
        <p:spPr>
          <a:xfrm>
            <a:off x="940059" y="1281675"/>
            <a:ext cx="712239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Fake news has become one of the most widespread and harmful challenges in the digital era.</a:t>
            </a:r>
          </a:p>
          <a:p>
            <a:b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</a:br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With the explosive growth of social media platforms, misinformation can reach millions of people within seconds.</a:t>
            </a:r>
            <a:b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</a:br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Manual fact-checking is slow, expensive, and cannot keep up with the massive volume of online content.</a:t>
            </a:r>
          </a:p>
          <a:p>
            <a:endParaRPr lang="en-GB" sz="1600" dirty="0">
              <a:solidFill>
                <a:schemeClr val="tx2">
                  <a:lumMod val="25000"/>
                </a:schemeClr>
              </a:solidFill>
              <a:latin typeface="Barlow" panose="020F0502020204030204" pitchFamily="2" charset="0"/>
            </a:endParaRPr>
          </a:p>
          <a:p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Because of this, </a:t>
            </a:r>
            <a:r>
              <a:rPr lang="en-GB" sz="1600" b="1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automated fake news generation and detection systems</a:t>
            </a:r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 have become essential tools in media research, journalism, public safety, and AI ethics.</a:t>
            </a:r>
            <a:b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</a:br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This project uses state-of-the-art Natural Language Processing (NLP) models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Generate synthetic fake news</a:t>
            </a:r>
            <a:r>
              <a:rPr lang="en-GB" sz="1600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 for research and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Detect whether a news headline is real or fake</a:t>
            </a:r>
            <a:endParaRPr lang="en-GB" sz="1600" dirty="0">
              <a:solidFill>
                <a:schemeClr val="accent1">
                  <a:lumMod val="50000"/>
                </a:schemeClr>
              </a:solidFill>
              <a:latin typeface="Barlow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Build an </a:t>
            </a:r>
            <a:r>
              <a:rPr lang="en-GB" sz="1600" b="1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end-to-end </a:t>
            </a:r>
            <a:r>
              <a:rPr lang="en-GB" sz="1600" b="1" dirty="0" err="1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MLOps</a:t>
            </a:r>
            <a:r>
              <a:rPr lang="en-GB" sz="1600" b="1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 pipeline</a:t>
            </a:r>
            <a:r>
              <a:rPr lang="en-GB" sz="1600" dirty="0">
                <a:solidFill>
                  <a:schemeClr val="accent1">
                    <a:lumMod val="50000"/>
                  </a:schemeClr>
                </a:solidFill>
                <a:latin typeface="Barlow" panose="020F0502020204030204" pitchFamily="2" charset="0"/>
              </a:rPr>
              <a:t> with model serving and deployment</a:t>
            </a:r>
          </a:p>
          <a:p>
            <a:r>
              <a:rPr lang="en-GB" sz="1600" dirty="0">
                <a:solidFill>
                  <a:schemeClr val="tx2">
                    <a:lumMod val="25000"/>
                  </a:schemeClr>
                </a:solidFill>
                <a:latin typeface="Barlow" panose="020F0502020204030204" pitchFamily="2" charset="0"/>
              </a:rPr>
              <a:t>The goal is to demonstrate how modern NLP systems can be trained, evaluated, deployed, and integrated into real-world applications.</a:t>
            </a:r>
          </a:p>
          <a:p>
            <a:endParaRPr lang="en-IN" sz="1600" dirty="0">
              <a:solidFill>
                <a:schemeClr val="tx2">
                  <a:lumMod val="25000"/>
                </a:schemeClr>
              </a:solidFill>
              <a:latin typeface="Barlow" panose="020F05020202040302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813D-16CE-B1F7-1451-7EAB9BFE9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2390-6DB2-CDAE-E971-36284C3A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309" y="1043405"/>
            <a:ext cx="6096209" cy="253600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4335C-93C3-B7E7-51F3-A64FEBAF4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7845" y="3579405"/>
            <a:ext cx="5225846" cy="816800"/>
          </a:xfrm>
        </p:spPr>
        <p:txBody>
          <a:bodyPr/>
          <a:lstStyle/>
          <a:p>
            <a:pPr algn="l"/>
            <a:r>
              <a:rPr lang="en-GB" sz="2000" dirty="0"/>
              <a:t>• Detect whether a news headline is REAL or FAKE</a:t>
            </a:r>
          </a:p>
          <a:p>
            <a:pPr algn="l"/>
            <a:r>
              <a:rPr lang="en-GB" sz="2000" dirty="0"/>
              <a:t>• Generate fake news for research/testing</a:t>
            </a:r>
          </a:p>
          <a:p>
            <a:pPr algn="l"/>
            <a:r>
              <a:rPr lang="en-GB" sz="2000" dirty="0"/>
              <a:t>• Build full ML pipeline with deployment</a:t>
            </a:r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122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A6246-6020-6A89-9C91-98DB30AB7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</a:t>
            </a:r>
            <a:endParaRPr lang="en-I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70388E5-9F70-D0F9-384B-7067E8708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1016" y="2165449"/>
            <a:ext cx="6792801" cy="2278732"/>
          </a:xfrm>
        </p:spPr>
        <p:txBody>
          <a:bodyPr/>
          <a:lstStyle/>
          <a:p>
            <a:r>
              <a:rPr lang="en-IN" sz="2800" dirty="0"/>
              <a:t>• GPT-2 model generates fake headlines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DistilBERT</a:t>
            </a:r>
            <a:r>
              <a:rPr lang="en-IN" sz="2800" dirty="0"/>
              <a:t> model classifies fake vs real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FastAPI</a:t>
            </a:r>
            <a:r>
              <a:rPr lang="en-IN" sz="2800" dirty="0"/>
              <a:t> backend serves models</a:t>
            </a:r>
          </a:p>
          <a:p>
            <a:r>
              <a:rPr lang="en-IN" sz="2800" dirty="0"/>
              <a:t>• </a:t>
            </a:r>
            <a:r>
              <a:rPr lang="en-IN" sz="2800" dirty="0" err="1"/>
              <a:t>Streamlit</a:t>
            </a:r>
            <a:r>
              <a:rPr lang="en-IN" sz="2800" dirty="0"/>
              <a:t> frontend for UI</a:t>
            </a:r>
          </a:p>
        </p:txBody>
      </p:sp>
    </p:spTree>
    <p:extLst>
      <p:ext uri="{BB962C8B-B14F-4D97-AF65-F5344CB8AC3E}">
        <p14:creationId xmlns:p14="http://schemas.microsoft.com/office/powerpoint/2010/main" val="10962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B509C6-1FF7-5E23-C32D-1FB70C48A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07" y="3098115"/>
            <a:ext cx="5889523" cy="32048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9E35DE7-B1E9-3F26-3CFD-AD68B582E61F}"/>
              </a:ext>
            </a:extLst>
          </p:cNvPr>
          <p:cNvSpPr txBox="1">
            <a:spLocks/>
          </p:cNvSpPr>
          <p:nvPr/>
        </p:nvSpPr>
        <p:spPr>
          <a:xfrm>
            <a:off x="1205531" y="614077"/>
            <a:ext cx="7696500" cy="76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dirty="0">
                <a:solidFill>
                  <a:schemeClr val="bg2"/>
                </a:solidFill>
                <a:latin typeface="Fjalla One" panose="02000506040000020004" pitchFamily="2" charset="0"/>
              </a:rPr>
              <a:t>Dataset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636548-8147-D3C5-D082-225F634FAA67}"/>
              </a:ext>
            </a:extLst>
          </p:cNvPr>
          <p:cNvSpPr txBox="1"/>
          <p:nvPr/>
        </p:nvSpPr>
        <p:spPr>
          <a:xfrm>
            <a:off x="1125793" y="1377677"/>
            <a:ext cx="4419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 err="1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FakeNewsNet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 Dataset from </a:t>
            </a:r>
            <a:r>
              <a:rPr lang="en-GB" sz="1600" dirty="0" err="1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HuggingFace</a:t>
            </a:r>
            <a:endParaRPr lang="en-GB" sz="1600" dirty="0">
              <a:solidFill>
                <a:schemeClr val="tx2">
                  <a:lumMod val="50000"/>
                </a:schemeClr>
              </a:solidFill>
              <a:latin typeface="Barlow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Binary labels: 0 = REAL, 1 = FAKE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Kept only relevant columns after preprocessing   (text, labels)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Split into train, test and validation</a:t>
            </a:r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B2734D5A-D4B8-D2FC-ABEE-DA57CC895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251" y="1235942"/>
            <a:ext cx="2868606" cy="131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1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8153D-FA3F-D49E-E63D-79E6D205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948" y="3346817"/>
            <a:ext cx="5407742" cy="1072800"/>
          </a:xfrm>
        </p:spPr>
        <p:txBody>
          <a:bodyPr/>
          <a:lstStyle/>
          <a:p>
            <a:pPr algn="l"/>
            <a:r>
              <a:rPr lang="en-GB" sz="2000" dirty="0">
                <a:latin typeface="Barlow" panose="00000500000000000000" pitchFamily="2" charset="0"/>
              </a:rPr>
              <a:t>• Lightweight transformer for classification</a:t>
            </a:r>
            <a:br>
              <a:rPr lang="en-GB" sz="2000" dirty="0">
                <a:latin typeface="Barlow" panose="00000500000000000000" pitchFamily="2" charset="0"/>
              </a:rPr>
            </a:br>
            <a:r>
              <a:rPr lang="en-GB" sz="2000" dirty="0">
                <a:latin typeface="Barlow" panose="00000500000000000000" pitchFamily="2" charset="0"/>
              </a:rPr>
              <a:t>• Fine-tuned on fake news dataset</a:t>
            </a:r>
            <a:br>
              <a:rPr lang="en-GB" sz="2000" dirty="0">
                <a:latin typeface="Barlow" panose="00000500000000000000" pitchFamily="2" charset="0"/>
              </a:rPr>
            </a:br>
            <a:r>
              <a:rPr lang="en-GB" sz="2000" dirty="0">
                <a:latin typeface="Barlow" panose="00000500000000000000" pitchFamily="2" charset="0"/>
              </a:rPr>
              <a:t>• Outputs prediction + confidence</a:t>
            </a:r>
            <a:endParaRPr lang="en-IN" sz="2000" dirty="0">
              <a:latin typeface="Barlow" panose="00000500000000000000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FD84C5-9886-DC2F-185C-905709674011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622323" y="1548384"/>
            <a:ext cx="5702709" cy="1426400"/>
          </a:xfrm>
        </p:spPr>
        <p:txBody>
          <a:bodyPr/>
          <a:lstStyle/>
          <a:p>
            <a:r>
              <a:rPr lang="en-IN" sz="4800" dirty="0"/>
              <a:t>Model Architecture: </a:t>
            </a:r>
            <a:r>
              <a:rPr lang="en-IN" sz="4800" dirty="0" err="1"/>
              <a:t>DistilBERT</a:t>
            </a:r>
            <a:endParaRPr lang="en-IN" sz="4800" dirty="0"/>
          </a:p>
        </p:txBody>
      </p:sp>
      <p:pic>
        <p:nvPicPr>
          <p:cNvPr id="6" name="Picture 5" descr="A group of text on a white background&#10;&#10;AI-generated content may be incorrect.">
            <a:extLst>
              <a:ext uri="{FF2B5EF4-FFF2-40B4-BE49-F238E27FC236}">
                <a16:creationId xmlns:a16="http://schemas.microsoft.com/office/drawing/2014/main" id="{086A9E43-7752-BD39-FBEC-85F947046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29965"/>
          <a:stretch>
            <a:fillRect/>
          </a:stretch>
        </p:blipFill>
        <p:spPr>
          <a:xfrm>
            <a:off x="2101644" y="4419617"/>
            <a:ext cx="4744064" cy="13908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78281B-835C-2DE0-A7ED-4D5869FF7BA2}"/>
              </a:ext>
            </a:extLst>
          </p:cNvPr>
          <p:cNvSpPr txBox="1"/>
          <p:nvPr/>
        </p:nvSpPr>
        <p:spPr>
          <a:xfrm>
            <a:off x="727586" y="6143321"/>
            <a:ext cx="749218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TrainOutput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global_step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=3480, 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training_loss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=0.29855352599045326, metrics={'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train_runtime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678.2876,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train_samples_per_second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82.071,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train_steps_per_second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5.131,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total_flos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1843548787095552.0,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train_loss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0.29855352599045326, 'epoch': 3.0})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4168033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6C99D-D9DF-8F2C-980F-09CA0ECC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0AE0-5650-1296-C2C2-9FB5EB544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948" y="3346817"/>
            <a:ext cx="5407742" cy="1072800"/>
          </a:xfrm>
        </p:spPr>
        <p:txBody>
          <a:bodyPr/>
          <a:lstStyle/>
          <a:p>
            <a:pPr algn="l"/>
            <a:r>
              <a:rPr lang="en-GB" sz="2000" dirty="0">
                <a:latin typeface="Barlow" panose="00000500000000000000" pitchFamily="2" charset="0"/>
              </a:rPr>
              <a:t>• Generative LM trained to mimic news style</a:t>
            </a:r>
            <a:br>
              <a:rPr lang="en-GB" sz="2000" dirty="0">
                <a:latin typeface="Barlow" panose="00000500000000000000" pitchFamily="2" charset="0"/>
              </a:rPr>
            </a:br>
            <a:r>
              <a:rPr lang="en-GB" sz="2000" dirty="0">
                <a:latin typeface="Barlow" panose="00000500000000000000" pitchFamily="2" charset="0"/>
              </a:rPr>
              <a:t>• Produces human-like fake headlines</a:t>
            </a:r>
            <a:br>
              <a:rPr lang="en-GB" sz="2000" dirty="0">
                <a:latin typeface="Barlow" panose="00000500000000000000" pitchFamily="2" charset="0"/>
              </a:rPr>
            </a:br>
            <a:r>
              <a:rPr lang="en-GB" sz="2000" dirty="0">
                <a:latin typeface="Barlow" panose="00000500000000000000" pitchFamily="2" charset="0"/>
              </a:rPr>
              <a:t>• Tuned for short headline generation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5A2B76-82B1-3908-C23B-1E3ED0C37612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622323" y="1548384"/>
            <a:ext cx="5702709" cy="1426400"/>
          </a:xfrm>
        </p:spPr>
        <p:txBody>
          <a:bodyPr/>
          <a:lstStyle/>
          <a:p>
            <a:r>
              <a:rPr lang="en-IN" sz="4800" dirty="0"/>
              <a:t>Model Architecture: GPT-2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CCE82B-AE3A-BADD-2E6E-70F6363EC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48" y="4491312"/>
            <a:ext cx="4652411" cy="1423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9C7C60-2F57-9B18-B67A-8AC3B2BA8DFA}"/>
              </a:ext>
            </a:extLst>
          </p:cNvPr>
          <p:cNvSpPr txBox="1"/>
          <p:nvPr/>
        </p:nvSpPr>
        <p:spPr>
          <a:xfrm>
            <a:off x="786582" y="6070877"/>
            <a:ext cx="727587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TrainOutput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global_step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=8700, 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training_loss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=0.8854884829466371, metrics={'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train_runtime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2225.1908,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train_samples_per_second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31.273,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train_steps_per_second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3.91,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total_flos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2272848740352000.0, '</a:t>
            </a:r>
            <a:r>
              <a:rPr lang="en-IN" sz="105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train_loss</a:t>
            </a:r>
            <a:r>
              <a:rPr lang="en-IN" sz="105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0.8854884829466371, 'epoch': 3.0})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208594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E59E03-1AB6-C3F8-D566-799EA35B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 Pipeline</a:t>
            </a: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644C32-DA8D-11DF-E3D7-B5B988B51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300" y="1812977"/>
            <a:ext cx="1764900" cy="609600"/>
          </a:xfrm>
        </p:spPr>
        <p:txBody>
          <a:bodyPr/>
          <a:lstStyle/>
          <a:p>
            <a:r>
              <a:rPr lang="en-GB" dirty="0"/>
              <a:t>Loading Dataset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081C47C-6BBE-3A81-2995-9A858D81E7CC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97565" y="2266088"/>
            <a:ext cx="1979635" cy="816800"/>
          </a:xfrm>
        </p:spPr>
        <p:txBody>
          <a:bodyPr/>
          <a:lstStyle/>
          <a:p>
            <a:r>
              <a:rPr lang="en-IN" dirty="0"/>
              <a:t>"</a:t>
            </a:r>
            <a:r>
              <a:rPr lang="en-IN" dirty="0" err="1"/>
              <a:t>rickstello</a:t>
            </a:r>
            <a:r>
              <a:rPr lang="en-IN" dirty="0"/>
              <a:t>/</a:t>
            </a:r>
            <a:r>
              <a:rPr lang="en-IN" dirty="0" err="1"/>
              <a:t>FakeNewsNet</a:t>
            </a:r>
            <a:r>
              <a:rPr lang="en-IN" dirty="0"/>
              <a:t>“ – downloaded from </a:t>
            </a:r>
            <a:r>
              <a:rPr lang="en-IN" dirty="0" err="1"/>
              <a:t>HuggingFace</a:t>
            </a:r>
            <a:endParaRPr lang="en-IN" dirty="0"/>
          </a:p>
          <a:p>
            <a:endParaRPr lang="en-IN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1BBD355-2399-5749-4736-098E86601942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379427" y="1812977"/>
            <a:ext cx="1764900" cy="609600"/>
          </a:xfrm>
        </p:spPr>
        <p:txBody>
          <a:bodyPr/>
          <a:lstStyle/>
          <a:p>
            <a:r>
              <a:rPr lang="en-GB" dirty="0"/>
              <a:t>Tokenize</a:t>
            </a:r>
            <a:endParaRPr lang="en-IN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616BA9F5-5217-57CC-4083-EECDC1ADA82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379427" y="2266088"/>
            <a:ext cx="1764900" cy="816800"/>
          </a:xfrm>
        </p:spPr>
        <p:txBody>
          <a:bodyPr/>
          <a:lstStyle/>
          <a:p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Tokenization using Hugging Face </a:t>
            </a:r>
            <a:r>
              <a:rPr lang="en-GB" dirty="0" err="1">
                <a:solidFill>
                  <a:schemeClr val="tx2">
                    <a:lumMod val="50000"/>
                  </a:schemeClr>
                </a:solidFill>
              </a:rPr>
              <a:t>AutoTokenizer</a:t>
            </a:r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5592575-3682-6490-F9BA-AA84ACECCE56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546550" y="1812977"/>
            <a:ext cx="1764900" cy="609600"/>
          </a:xfrm>
        </p:spPr>
        <p:txBody>
          <a:bodyPr/>
          <a:lstStyle/>
          <a:p>
            <a:r>
              <a:rPr lang="en-GB" dirty="0"/>
              <a:t>Training</a:t>
            </a:r>
            <a:endParaRPr lang="en-IN" dirty="0"/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CA6F6259-913C-A06E-FB06-368C3DA73484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546550" y="2266088"/>
            <a:ext cx="1764900" cy="816800"/>
          </a:xfrm>
        </p:spPr>
        <p:txBody>
          <a:bodyPr/>
          <a:lstStyle/>
          <a:p>
            <a:r>
              <a:rPr lang="en-GB" dirty="0"/>
              <a:t>Trained Model and fine tune on google </a:t>
            </a:r>
            <a:r>
              <a:rPr lang="en-GB" dirty="0" err="1"/>
              <a:t>colab</a:t>
            </a:r>
            <a:endParaRPr lang="en-IN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BA8DEF42-D71E-E84E-5C04-E9D362948FF7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1212300" y="3983140"/>
            <a:ext cx="1764900" cy="609600"/>
          </a:xfrm>
        </p:spPr>
        <p:txBody>
          <a:bodyPr/>
          <a:lstStyle/>
          <a:p>
            <a:r>
              <a:rPr lang="en-GB" dirty="0"/>
              <a:t>Evaluate Model</a:t>
            </a:r>
            <a:endParaRPr lang="en-IN" dirty="0"/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6F263E60-1470-6E94-92F1-C42F5D99231C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1212300" y="4478089"/>
            <a:ext cx="1764900" cy="814400"/>
          </a:xfrm>
        </p:spPr>
        <p:txBody>
          <a:bodyPr/>
          <a:lstStyle/>
          <a:p>
            <a:r>
              <a:rPr lang="en-GB" dirty="0"/>
              <a:t>Classification: Accuracy, F1 Score, </a:t>
            </a:r>
            <a:r>
              <a:rPr lang="en-GB" dirty="0" err="1"/>
              <a:t>Precison</a:t>
            </a:r>
            <a:r>
              <a:rPr lang="en-GB" dirty="0"/>
              <a:t>, Recall</a:t>
            </a:r>
          </a:p>
          <a:p>
            <a:r>
              <a:rPr lang="en-GB" dirty="0"/>
              <a:t>Generation: Bleu Score</a:t>
            </a:r>
            <a:endParaRPr lang="en-IN" dirty="0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4366538C-8718-4F07-ED1A-4B0AB543A563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3287325" y="3983144"/>
            <a:ext cx="1949100" cy="609600"/>
          </a:xfrm>
        </p:spPr>
        <p:txBody>
          <a:bodyPr/>
          <a:lstStyle/>
          <a:p>
            <a:r>
              <a:rPr lang="en-GB" dirty="0"/>
              <a:t>Creating Pipeline</a:t>
            </a:r>
            <a:endParaRPr lang="en-IN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B26FB95B-36BA-A2EE-6EF9-4E48AC44A2D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87375" y="4436552"/>
            <a:ext cx="1949100" cy="814400"/>
          </a:xfrm>
        </p:spPr>
        <p:txBody>
          <a:bodyPr/>
          <a:lstStyle/>
          <a:p>
            <a:r>
              <a:rPr lang="en-GB" dirty="0"/>
              <a:t>To generate fake news and detect whether the news is fake or not</a:t>
            </a:r>
            <a:endParaRPr lang="en-IN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6EFBFB8-89F7-B8A8-D0B5-D50DDD879884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5546550" y="3983140"/>
            <a:ext cx="1764900" cy="609600"/>
          </a:xfrm>
        </p:spPr>
        <p:txBody>
          <a:bodyPr/>
          <a:lstStyle/>
          <a:p>
            <a:r>
              <a:rPr lang="en-GB" dirty="0"/>
              <a:t>Deployment</a:t>
            </a:r>
            <a:endParaRPr lang="en-IN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DFD9EC74-C264-5751-FA08-6481B187F3D2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5546550" y="4436552"/>
            <a:ext cx="1764900" cy="814400"/>
          </a:xfrm>
        </p:spPr>
        <p:txBody>
          <a:bodyPr/>
          <a:lstStyle/>
          <a:p>
            <a:r>
              <a:rPr lang="en-GB" dirty="0"/>
              <a:t>Deployed the backend on Render using </a:t>
            </a:r>
            <a:r>
              <a:rPr lang="en-GB" dirty="0" err="1"/>
              <a:t>FastAPI</a:t>
            </a:r>
            <a:r>
              <a:rPr lang="en-IN" dirty="0"/>
              <a:t> and the frontend on </a:t>
            </a:r>
            <a:r>
              <a:rPr lang="en-IN" dirty="0" err="1"/>
              <a:t>Streamlit</a:t>
            </a:r>
            <a:r>
              <a:rPr lang="en-IN" dirty="0"/>
              <a:t> Cloud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3325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69C9CAD-CC1D-5871-710C-84110CBAD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4034" y="1132337"/>
            <a:ext cx="5296198" cy="372810"/>
          </a:xfrm>
        </p:spPr>
        <p:txBody>
          <a:bodyPr/>
          <a:lstStyle/>
          <a:p>
            <a:r>
              <a:rPr lang="en-GB" sz="2000" dirty="0"/>
              <a:t>Detection</a:t>
            </a:r>
            <a:endParaRPr lang="en-IN" sz="200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EA507DE-3F19-3DD0-D62F-CFBBFEB1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Results</a:t>
            </a:r>
            <a:endParaRPr lang="en-IN" dirty="0"/>
          </a:p>
        </p:txBody>
      </p:sp>
      <p:pic>
        <p:nvPicPr>
          <p:cNvPr id="25" name="Picture 24" descr="A number with black numbers&#10;&#10;AI-generated content may be incorrect.">
            <a:extLst>
              <a:ext uri="{FF2B5EF4-FFF2-40B4-BE49-F238E27FC236}">
                <a16:creationId xmlns:a16="http://schemas.microsoft.com/office/drawing/2014/main" id="{AD9DED07-3428-8B28-5ACB-5956F7534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329" y="1786274"/>
            <a:ext cx="2562583" cy="800212"/>
          </a:xfrm>
          <a:prstGeom prst="rect">
            <a:avLst/>
          </a:prstGeom>
        </p:spPr>
      </p:pic>
      <p:pic>
        <p:nvPicPr>
          <p:cNvPr id="27" name="Picture 2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FEB4C0B7-05CA-E420-5885-909CF156F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592" y="2963959"/>
            <a:ext cx="4142056" cy="296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62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7AE6-5617-58A6-A97F-9D43949F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202964B-FFF3-BA35-5E2F-4D5AE3FAF0F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00980" y="1067111"/>
            <a:ext cx="3869103" cy="303985"/>
          </a:xfrm>
        </p:spPr>
        <p:txBody>
          <a:bodyPr/>
          <a:lstStyle/>
          <a:p>
            <a:r>
              <a:rPr lang="en-GB" sz="2000" dirty="0"/>
              <a:t>Generation</a:t>
            </a:r>
            <a:endParaRPr lang="en-IN" sz="2000" dirty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1B26C17B-C9C3-1F25-A11F-02E3A031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Results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1FB069-7370-B132-CC85-13437EAFE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773503"/>
              </p:ext>
            </p:extLst>
          </p:nvPr>
        </p:nvGraphicFramePr>
        <p:xfrm>
          <a:off x="1369768" y="1584960"/>
          <a:ext cx="6191238" cy="445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46">
                  <a:extLst>
                    <a:ext uri="{9D8B030D-6E8A-4147-A177-3AD203B41FA5}">
                      <a16:colId xmlns:a16="http://schemas.microsoft.com/office/drawing/2014/main" val="2112210171"/>
                    </a:ext>
                  </a:extLst>
                </a:gridCol>
                <a:gridCol w="2063746">
                  <a:extLst>
                    <a:ext uri="{9D8B030D-6E8A-4147-A177-3AD203B41FA5}">
                      <a16:colId xmlns:a16="http://schemas.microsoft.com/office/drawing/2014/main" val="1399368303"/>
                    </a:ext>
                  </a:extLst>
                </a:gridCol>
                <a:gridCol w="2063746">
                  <a:extLst>
                    <a:ext uri="{9D8B030D-6E8A-4147-A177-3AD203B41FA5}">
                      <a16:colId xmlns:a16="http://schemas.microsoft.com/office/drawing/2014/main" val="39504078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Metrics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Interpretation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005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Distinct-1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0.4528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45% of words are unique → moderate word-level diversity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9087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Distinct-2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0.8027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80% of word pairs are unique → high phrase-level diversity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2697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Self-BLEU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0.1567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Low score → generated texts are diverse, not repetitive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22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Style Match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0.4371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Moderate similarity to real texts → partially mimics style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868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Perplexity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172.29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Measures fluency → lower values = more predictable / fluent text; higher = more uncertainty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95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962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20C9AC-5718-B3E5-160A-48F0C22CF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394" y="2974848"/>
            <a:ext cx="7393858" cy="1072800"/>
          </a:xfrm>
        </p:spPr>
        <p:txBody>
          <a:bodyPr/>
          <a:lstStyle/>
          <a:p>
            <a:r>
              <a:rPr lang="en-IN" sz="1800" dirty="0"/>
              <a:t>https://fake-news-detector-and-generator.onrender.com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78923A3-8CE5-ED40-8AC3-418E142075CD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568245" y="1548448"/>
            <a:ext cx="6007509" cy="1426400"/>
          </a:xfrm>
        </p:spPr>
        <p:txBody>
          <a:bodyPr/>
          <a:lstStyle/>
          <a:p>
            <a:r>
              <a:rPr lang="en-GB" sz="6000" dirty="0"/>
              <a:t>Fast-Api - Backend</a:t>
            </a:r>
            <a:endParaRPr lang="en-IN" sz="60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843D543-3852-61A5-577F-C8311AFBC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108" y="4219448"/>
            <a:ext cx="4607446" cy="914400"/>
          </a:xfrm>
        </p:spPr>
        <p:txBody>
          <a:bodyPr/>
          <a:lstStyle/>
          <a:p>
            <a:pPr algn="l"/>
            <a:r>
              <a:rPr lang="en-GB" dirty="0"/>
              <a:t>• Endpoints: /generate, /detect, /pipeline</a:t>
            </a:r>
          </a:p>
          <a:p>
            <a:pPr algn="l"/>
            <a:r>
              <a:rPr lang="en-GB" dirty="0"/>
              <a:t>• JSON-based structured responses</a:t>
            </a:r>
          </a:p>
          <a:p>
            <a:pPr algn="l"/>
            <a:r>
              <a:rPr lang="en-GB" dirty="0"/>
              <a:t>• Ready for cloud deployment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3551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9CCF-9680-7CE2-2BF2-478F1A2C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14A7509-40B8-E861-1CCA-2E063BF99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394" y="2974848"/>
            <a:ext cx="7393858" cy="1072800"/>
          </a:xfrm>
        </p:spPr>
        <p:txBody>
          <a:bodyPr/>
          <a:lstStyle/>
          <a:p>
            <a:r>
              <a:rPr lang="en-IN" sz="1800" dirty="0"/>
              <a:t>https://fake-news-detector-and-generator.streamlit.app/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EC6C9F-4A01-8148-27D5-148F9C2463CD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568245" y="1548448"/>
            <a:ext cx="6435213" cy="1426400"/>
          </a:xfrm>
        </p:spPr>
        <p:txBody>
          <a:bodyPr/>
          <a:lstStyle/>
          <a:p>
            <a:r>
              <a:rPr lang="en-GB" sz="6000" dirty="0" err="1"/>
              <a:t>Streamlit</a:t>
            </a:r>
            <a:r>
              <a:rPr lang="en-GB" sz="6000" dirty="0"/>
              <a:t> - Frontend</a:t>
            </a:r>
            <a:endParaRPr lang="en-IN" sz="60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DF88081-5186-FA5B-AAD0-B0458F589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8695" y="4219448"/>
            <a:ext cx="4607446" cy="914400"/>
          </a:xfrm>
        </p:spPr>
        <p:txBody>
          <a:bodyPr/>
          <a:lstStyle/>
          <a:p>
            <a:pPr algn="l"/>
            <a:r>
              <a:rPr lang="en-IN" dirty="0"/>
              <a:t>• User-friendly interface</a:t>
            </a:r>
          </a:p>
          <a:p>
            <a:pPr algn="l"/>
            <a:r>
              <a:rPr lang="en-IN" dirty="0"/>
              <a:t>• News generation UI</a:t>
            </a:r>
          </a:p>
          <a:p>
            <a:pPr algn="l"/>
            <a:r>
              <a:rPr lang="en-IN" dirty="0"/>
              <a:t>• Detection UI</a:t>
            </a:r>
          </a:p>
          <a:p>
            <a:pPr algn="l"/>
            <a:r>
              <a:rPr lang="en-IN" dirty="0"/>
              <a:t>• Full pipeline interface</a:t>
            </a:r>
          </a:p>
        </p:txBody>
      </p:sp>
    </p:spTree>
    <p:extLst>
      <p:ext uri="{BB962C8B-B14F-4D97-AF65-F5344CB8AC3E}">
        <p14:creationId xmlns:p14="http://schemas.microsoft.com/office/powerpoint/2010/main" val="2402594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EDB676-BAAE-435E-C4F8-9206B6673696}"/>
              </a:ext>
            </a:extLst>
          </p:cNvPr>
          <p:cNvSpPr txBox="1">
            <a:spLocks/>
          </p:cNvSpPr>
          <p:nvPr/>
        </p:nvSpPr>
        <p:spPr>
          <a:xfrm>
            <a:off x="723750" y="702567"/>
            <a:ext cx="7696500" cy="76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dirty="0">
                <a:solidFill>
                  <a:schemeClr val="tx2">
                    <a:lumMod val="50000"/>
                  </a:schemeClr>
                </a:solidFill>
                <a:latin typeface="Fjalla One" panose="02000506040000020004" pitchFamily="2" charset="0"/>
              </a:rPr>
              <a:t>Fake News Generation Examples</a:t>
            </a:r>
          </a:p>
        </p:txBody>
      </p:sp>
      <p:pic>
        <p:nvPicPr>
          <p:cNvPr id="7" name="Picture 6" descr="A screenshot of a fake news generator&#10;&#10;AI-generated content may be incorrect.">
            <a:extLst>
              <a:ext uri="{FF2B5EF4-FFF2-40B4-BE49-F238E27FC236}">
                <a16:creationId xmlns:a16="http://schemas.microsoft.com/office/drawing/2014/main" id="{97C7A5E2-74A3-99FB-F48A-CE181A2F1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60" y="1337188"/>
            <a:ext cx="4942553" cy="3056368"/>
          </a:xfrm>
          <a:prstGeom prst="rect">
            <a:avLst/>
          </a:prstGeom>
        </p:spPr>
      </p:pic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5586CCD-EEEE-A2E0-1A42-71B7DFD5E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6" y="4393556"/>
            <a:ext cx="5315105" cy="145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88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8332-7F70-B39C-8BDD-424B9619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2B2A8A6-F2CB-B6BF-F3C9-97FB12EBE7C5}"/>
              </a:ext>
            </a:extLst>
          </p:cNvPr>
          <p:cNvSpPr txBox="1">
            <a:spLocks/>
          </p:cNvSpPr>
          <p:nvPr/>
        </p:nvSpPr>
        <p:spPr>
          <a:xfrm>
            <a:off x="723750" y="702567"/>
            <a:ext cx="7696500" cy="763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2800" dirty="0">
                <a:solidFill>
                  <a:schemeClr val="tx2">
                    <a:lumMod val="50000"/>
                  </a:schemeClr>
                </a:solidFill>
                <a:latin typeface="Fjalla One" panose="02000506040000020004" pitchFamily="2" charset="0"/>
              </a:rPr>
              <a:t>Fake News Generation Examples</a:t>
            </a:r>
          </a:p>
        </p:txBody>
      </p:sp>
      <p:pic>
        <p:nvPicPr>
          <p:cNvPr id="3" name="Picture 2" descr="A screenshot of a news detection&#10;&#10;AI-generated content may be incorrect.">
            <a:extLst>
              <a:ext uri="{FF2B5EF4-FFF2-40B4-BE49-F238E27FC236}">
                <a16:creationId xmlns:a16="http://schemas.microsoft.com/office/drawing/2014/main" id="{30CD6B12-287F-4053-6A34-8A1C9349D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50" y="1546366"/>
            <a:ext cx="6807445" cy="411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5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7B53897-806C-A440-E34D-4120F6024DE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42213" y="1915099"/>
            <a:ext cx="704973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Barlow" panose="00000500000000000000" pitchFamily="2" charset="0"/>
              </a:rPr>
              <a:t>Extend detection to multi-class categories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GB" sz="1600" i="1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- </a:t>
            </a:r>
            <a:r>
              <a:rPr lang="en-GB" sz="1600" i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Satire, Clickbait, Propaganda, Biased Reporting, Partially True Content, Manipulated Headlines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j-lt"/>
            </a:endParaRPr>
          </a:p>
          <a:p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2. </a:t>
            </a:r>
            <a:r>
              <a:rPr lang="en-GB" sz="1600" b="1" dirty="0">
                <a:solidFill>
                  <a:schemeClr val="tx2">
                    <a:lumMod val="25000"/>
                  </a:schemeClr>
                </a:solidFill>
                <a:latin typeface="Barlow" panose="00000500000000000000" pitchFamily="2" charset="0"/>
              </a:rPr>
              <a:t>Collect larger, multilingual, and more varied datasets 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to improve accuracy, reduce model bias and increase generalization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Barlow" panose="00000500000000000000" pitchFamily="2" charset="0"/>
              </a:rPr>
              <a:t>3.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</a:schemeClr>
                </a:solidFill>
                <a:effectLst/>
                <a:latin typeface="Barlow" panose="00000500000000000000" pitchFamily="2" charset="0"/>
              </a:rPr>
              <a:t>Integrate external fact-checking APIs for hybrid verification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Barlow" panose="00000500000000000000" pitchFamily="2" charset="0"/>
              </a:rPr>
              <a:t>like G</a:t>
            </a:r>
            <a:r>
              <a:rPr lang="en-IN" sz="1600" dirty="0" err="1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oogle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 Fact Check API, </a:t>
            </a:r>
            <a:r>
              <a:rPr lang="en-IN" sz="1600" dirty="0" err="1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NewsTrust</a:t>
            </a:r>
            <a:r>
              <a:rPr lang="en-IN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 Databases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Barlow" panose="00000500000000000000" pitchFamily="2" charset="0"/>
            </a:endParaRPr>
          </a:p>
          <a:p>
            <a:r>
              <a:rPr lang="en-US" altLang="en-US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4. </a:t>
            </a:r>
            <a:r>
              <a:rPr lang="en-GB" sz="1600" b="1" dirty="0">
                <a:solidFill>
                  <a:schemeClr val="tx2">
                    <a:lumMod val="25000"/>
                  </a:schemeClr>
                </a:solidFill>
                <a:latin typeface="Barlow" panose="00000500000000000000" pitchFamily="2" charset="0"/>
              </a:rPr>
              <a:t>Extend the dataset and classifier to include region-specific misinformation: 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Political (US, EU, India, etc.) and varied topics like Economic, Health, Climate, Technology, Celebrity News</a:t>
            </a:r>
            <a:b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</a:b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This makes the system effective for </a:t>
            </a:r>
            <a:r>
              <a:rPr lang="en-GB" sz="1600" b="1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global fake news detection</a:t>
            </a:r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.</a:t>
            </a:r>
          </a:p>
          <a:p>
            <a:r>
              <a:rPr lang="en-GB" sz="1600" dirty="0">
                <a:solidFill>
                  <a:schemeClr val="tx2">
                    <a:lumMod val="50000"/>
                  </a:schemeClr>
                </a:solidFill>
                <a:latin typeface="Barlow" panose="00000500000000000000" pitchFamily="2" charset="0"/>
              </a:rPr>
              <a:t>5. </a:t>
            </a:r>
            <a:r>
              <a:rPr lang="en-GB" sz="1600" b="1" dirty="0">
                <a:solidFill>
                  <a:schemeClr val="tx2">
                    <a:lumMod val="25000"/>
                  </a:schemeClr>
                </a:solidFill>
                <a:latin typeface="Barlow" panose="00000500000000000000" pitchFamily="2" charset="0"/>
              </a:rPr>
              <a:t>Upgrade to More Robust, Advanced Models</a:t>
            </a: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Barlow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D80232-6362-4A20-5EE4-37AD79387B21}"/>
              </a:ext>
            </a:extLst>
          </p:cNvPr>
          <p:cNvSpPr txBox="1"/>
          <p:nvPr/>
        </p:nvSpPr>
        <p:spPr>
          <a:xfrm>
            <a:off x="1499420" y="9212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chemeClr val="tx2">
                    <a:lumMod val="25000"/>
                  </a:schemeClr>
                </a:solidFill>
                <a:latin typeface="Fjalla One" panose="02000506040000020004" pitchFamily="2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56197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hank you message with pink leaves&#10;&#10;AI-generated content may be incorrect.">
            <a:extLst>
              <a:ext uri="{FF2B5EF4-FFF2-40B4-BE49-F238E27FC236}">
                <a16:creationId xmlns:a16="http://schemas.microsoft.com/office/drawing/2014/main" id="{8C47D2F3-52C7-B696-2D7D-1A6FD56D4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20645" y="400664"/>
            <a:ext cx="5860026" cy="586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68586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FF87D1"/>
      </a:accent1>
      <a:accent2>
        <a:srgbClr val="FFBDE6"/>
      </a:accent2>
      <a:accent3>
        <a:srgbClr val="FFD9E8"/>
      </a:accent3>
      <a:accent4>
        <a:srgbClr val="BEBEBE"/>
      </a:accent4>
      <a:accent5>
        <a:srgbClr val="BE3E8D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Technology Consulting Pink variant</Template>
  <TotalTime>130</TotalTime>
  <Words>767</Words>
  <Application>Microsoft Office PowerPoint</Application>
  <PresentationFormat>On-screen Show (4:3)</PresentationFormat>
  <Paragraphs>94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Barlow</vt:lpstr>
      <vt:lpstr>Barlow Semi Condensed</vt:lpstr>
      <vt:lpstr>Barlow Semi Condensed Medium</vt:lpstr>
      <vt:lpstr>Courier New</vt:lpstr>
      <vt:lpstr>Fjalla One</vt:lpstr>
      <vt:lpstr>Proxima Nova</vt:lpstr>
      <vt:lpstr>Proxima Nova Semibold</vt:lpstr>
      <vt:lpstr>Roboto Condensed Light</vt:lpstr>
      <vt:lpstr>Technology Consulting by Slidesgo</vt:lpstr>
      <vt:lpstr>Slidesgo Final Pages</vt:lpstr>
      <vt:lpstr>Project Presentation</vt:lpstr>
      <vt:lpstr>Fake News Generator &amp; Detector</vt:lpstr>
      <vt:lpstr>PowerPoint Presentation</vt:lpstr>
      <vt:lpstr>Problem Statement</vt:lpstr>
      <vt:lpstr>Project Overview</vt:lpstr>
      <vt:lpstr>PowerPoint Presentation</vt:lpstr>
      <vt:lpstr>• Lightweight transformer for classification • Fine-tuned on fake news dataset • Outputs prediction + confidence</vt:lpstr>
      <vt:lpstr>• Generative LM trained to mimic news style • Produces human-like fake headlines • Tuned for short headline generation</vt:lpstr>
      <vt:lpstr>Training Pipeline</vt:lpstr>
      <vt:lpstr>Evaluation Results</vt:lpstr>
      <vt:lpstr>Evaluation Results</vt:lpstr>
      <vt:lpstr>https://fake-news-detector-and-generator.onrender.com</vt:lpstr>
      <vt:lpstr>https://fake-news-detector-and-generator.streamlit.app/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HARSHITA</cp:lastModifiedBy>
  <cp:revision>2</cp:revision>
  <dcterms:created xsi:type="dcterms:W3CDTF">2013-01-27T09:14:16Z</dcterms:created>
  <dcterms:modified xsi:type="dcterms:W3CDTF">2025-12-07T22:42:15Z</dcterms:modified>
  <cp:category/>
</cp:coreProperties>
</file>